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it20198/Grade-Change-Intelligence-in-Paper-Making-Proces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11794726" cy="395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/>
              <a:t>05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/>
              <a:t>Grade Change Intelligence in Paper Making Process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/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portal)- </a:t>
            </a:r>
            <a:r>
              <a:rPr lang="en-IN" sz="2400" dirty="0"/>
              <a:t>Mohit Upadhyay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 </a:t>
            </a:r>
            <a:r>
              <a:rPr lang="en-US" sz="2400" dirty="0"/>
              <a:t>23BAI10262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58761" y="136522"/>
            <a:ext cx="7079495" cy="1143000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Change Intelligence in Paper Making Process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841F6-9669-3B8D-294F-C9B8D717C48A}"/>
              </a:ext>
            </a:extLst>
          </p:cNvPr>
          <p:cNvSpPr txBox="1"/>
          <p:nvPr/>
        </p:nvSpPr>
        <p:spPr>
          <a:xfrm>
            <a:off x="182998" y="1257479"/>
            <a:ext cx="423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F8C1EF-2A98-2653-5895-749EA8EA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06" r="10121"/>
          <a:stretch>
            <a:fillRect/>
          </a:stretch>
        </p:blipFill>
        <p:spPr>
          <a:xfrm>
            <a:off x="7777316" y="1"/>
            <a:ext cx="4414684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98A426-81F8-3B65-D2DA-EC7581E26AE2}"/>
              </a:ext>
            </a:extLst>
          </p:cNvPr>
          <p:cNvSpPr txBox="1"/>
          <p:nvPr/>
        </p:nvSpPr>
        <p:spPr>
          <a:xfrm>
            <a:off x="255640" y="1143000"/>
            <a:ext cx="752167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Detailed Explanation: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Advisory intelligence layer on top of existing QCS/MPC — not a replacement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Predicts basis weight risk </a:t>
            </a:r>
            <a:r>
              <a:rPr lang="en-IN" b="1" dirty="0"/>
              <a:t>5 min ahead</a:t>
            </a:r>
            <a:r>
              <a:rPr lang="en-IN" dirty="0"/>
              <a:t> (</a:t>
            </a:r>
            <a:r>
              <a:rPr lang="en-IN" dirty="0" err="1"/>
              <a:t>LightGBM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Discovers hidden tag correlations via Granger causality - validated against ground truth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Recommends rate-safe setpoint nudges (k-NN + optimizer)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Explains every suggestion (SHAP + LLM rationale)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Logs operator accept/reject for continuous evaluation</a:t>
            </a:r>
            <a:endParaRPr lang="en-IN" sz="1600" dirty="0"/>
          </a:p>
          <a:p>
            <a:r>
              <a:rPr lang="en-IN" b="1" dirty="0"/>
              <a:t>How It Addresses the Problem: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Detects instability </a:t>
            </a:r>
            <a:r>
              <a:rPr lang="en-IN" b="1" dirty="0"/>
              <a:t>3.5–4 min before</a:t>
            </a:r>
            <a:r>
              <a:rPr lang="en-IN" dirty="0"/>
              <a:t> breach — actionable lead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Surfaces correlations not in documented control loops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Explains </a:t>
            </a:r>
            <a:r>
              <a:rPr lang="en-IN" i="1" dirty="0"/>
              <a:t>why</a:t>
            </a:r>
            <a:r>
              <a:rPr lang="en-IN" dirty="0"/>
              <a:t> — restores lost operator "tribal knowledge"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Every suggestion tagged by source (recipe / historical / discovered)</a:t>
            </a:r>
            <a:endParaRPr lang="en-IN" sz="1600" dirty="0"/>
          </a:p>
          <a:p>
            <a:r>
              <a:rPr lang="en-IN" b="1" dirty="0"/>
              <a:t>Innovation &amp; Uniqueness: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LLM narrates only — stats/ML do the actual prediction &amp; discovery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Correlation engine validated against </a:t>
            </a:r>
            <a:r>
              <a:rPr lang="en-IN" b="1" dirty="0"/>
              <a:t>known ground truth</a:t>
            </a:r>
            <a:r>
              <a:rPr lang="en-IN" dirty="0"/>
              <a:t> (5/5 recovered, 16 false positives rejected)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Self-correcting pipeline — caught &amp; fixed its own methodology errors before trusting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3E1331-ABE0-6848-2B6B-FC633331DD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07" r="20239"/>
          <a:stretch>
            <a:fillRect/>
          </a:stretch>
        </p:blipFill>
        <p:spPr>
          <a:xfrm>
            <a:off x="8041149" y="0"/>
            <a:ext cx="4150852" cy="6721478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6659" y="819058"/>
            <a:ext cx="8161270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2400" b="1" dirty="0"/>
              <a:t>Technologies Used:-</a:t>
            </a:r>
            <a:endParaRPr lang="en-IN" sz="2400" dirty="0"/>
          </a:p>
          <a:p>
            <a:pPr algn="just"/>
            <a:r>
              <a:rPr lang="en-IN" b="1" dirty="0" err="1"/>
              <a:t>Modeling</a:t>
            </a:r>
            <a:r>
              <a:rPr lang="en-IN" b="1" dirty="0"/>
              <a:t> &amp; Discovery: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/>
              <a:t>LightGBM</a:t>
            </a:r>
            <a:r>
              <a:rPr lang="en-IN" dirty="0"/>
              <a:t> — off-spec risk prediction (5-min lookahead)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Granger causality + ΔR² filtering — correlation discovery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SHAP </a:t>
            </a:r>
            <a:r>
              <a:rPr lang="en-IN" dirty="0" err="1"/>
              <a:t>TreeExplainer</a:t>
            </a:r>
            <a:r>
              <a:rPr lang="en-IN" dirty="0"/>
              <a:t> — model interpretability</a:t>
            </a:r>
          </a:p>
          <a:p>
            <a:pPr algn="just"/>
            <a:r>
              <a:rPr lang="en-IN" b="1" dirty="0"/>
              <a:t>Recommendation Engine: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k-NN historical similarity search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Constrained optimizer — rate-safe setpoint suggestions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OpenAI → </a:t>
            </a:r>
            <a:r>
              <a:rPr lang="en-IN" dirty="0" err="1"/>
              <a:t>Groq</a:t>
            </a:r>
            <a:r>
              <a:rPr lang="en-IN" dirty="0"/>
              <a:t>(fallback) → Template — rationale narration only(</a:t>
            </a:r>
          </a:p>
          <a:p>
            <a:pPr algn="just"/>
            <a:r>
              <a:rPr lang="en-IN" b="1" dirty="0"/>
              <a:t>Interface &amp; Feedback: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err="1"/>
              <a:t>Streamlit</a:t>
            </a:r>
            <a:r>
              <a:rPr lang="en-IN" dirty="0"/>
              <a:t> + </a:t>
            </a:r>
            <a:r>
              <a:rPr lang="en-IN" dirty="0" err="1"/>
              <a:t>Plotly</a:t>
            </a:r>
            <a:r>
              <a:rPr lang="en-IN" dirty="0"/>
              <a:t> — interactive dashboard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SQLite — accept/reject feedback logging</a:t>
            </a:r>
          </a:p>
          <a:p>
            <a:pPr algn="just"/>
            <a:r>
              <a:rPr lang="en-IN" b="1" dirty="0"/>
              <a:t>Data Foundation: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Physics-based simulator (First-Order-Lag + Deadtime transfer functions, grounded in real paper-machine control patents) — used since no live plant data was available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125AD0-64EE-A79D-D2B4-C3DF4B3B36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591" b="42136"/>
          <a:stretch>
            <a:fillRect/>
          </a:stretch>
        </p:blipFill>
        <p:spPr>
          <a:xfrm>
            <a:off x="0" y="5434106"/>
            <a:ext cx="9019458" cy="12873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4594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5639" y="812168"/>
            <a:ext cx="7596561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Feasibility: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Full pipeline built &amp; validated end-to-end within hackathon timeline — not theoretical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Correlation engine validated against known ground truth (5/5 links recovered)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Uses existing DCS/QCS data sources — no new hardware/sensors required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Deployed as advisory layer on top of QCS/MPC — low integration risk</a:t>
            </a:r>
          </a:p>
          <a:p>
            <a:pPr algn="just"/>
            <a:r>
              <a:rPr lang="en-IN" b="1" dirty="0"/>
              <a:t>Challenges &amp; Risks: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Sharp-onset disturbances evade early detection (3/9 events, confirmed via pattern analysis)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Validated on synthetic data — real plant </a:t>
            </a:r>
            <a:r>
              <a:rPr lang="en-IN" dirty="0" err="1"/>
              <a:t>behavior</a:t>
            </a:r>
            <a:r>
              <a:rPr lang="en-IN" dirty="0"/>
              <a:t> unverified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~71% precision → some false alarms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Rate-constrained recommendations have modest standalone impact</a:t>
            </a:r>
          </a:p>
          <a:p>
            <a:pPr algn="just"/>
            <a:r>
              <a:rPr lang="en-IN" b="1" dirty="0"/>
              <a:t>Strategies</a:t>
            </a:r>
            <a:r>
              <a:rPr lang="en-IN" b="1" dirty="0">
                <a:solidFill>
                  <a:schemeClr val="tx2"/>
                </a:solidFill>
              </a:rPr>
              <a:t>:</a:t>
            </a:r>
            <a:endParaRPr lang="en-IN" dirty="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Combine with existing fast-acting MPC as first line of </a:t>
            </a:r>
            <a:r>
              <a:rPr lang="en-IN" dirty="0" err="1"/>
              <a:t>defense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Retrain directly on live DCS historian data post-deployment (no architecture change needed)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Accept/reject feedback loop tunes threshold against real operator judgment over time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Pair with existing trajectory/recipe tools for larger corrections beyond trim range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E61D1F-0FFA-786C-7553-E07CB4FA2C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42" b="1990"/>
          <a:stretch>
            <a:fillRect/>
          </a:stretch>
        </p:blipFill>
        <p:spPr>
          <a:xfrm>
            <a:off x="8470366" y="671555"/>
            <a:ext cx="3112034" cy="619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5C9FD0-3E00-4C47-74CA-A19F411E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26"/>
          <a:stretch>
            <a:fillRect/>
          </a:stretch>
        </p:blipFill>
        <p:spPr>
          <a:xfrm>
            <a:off x="93307" y="2408186"/>
            <a:ext cx="3772561" cy="21168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7FAF08-5D35-CCEA-B37C-AFC098E99D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026"/>
          <a:stretch>
            <a:fillRect/>
          </a:stretch>
        </p:blipFill>
        <p:spPr>
          <a:xfrm>
            <a:off x="93309" y="4679230"/>
            <a:ext cx="3772561" cy="21168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3D352A-F25C-D77A-6B16-9D14D9728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8" y="523875"/>
            <a:ext cx="3772561" cy="1730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535016-BC44-0E12-2C47-F8ABA65F6F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6432"/>
          <a:stretch>
            <a:fillRect/>
          </a:stretch>
        </p:blipFill>
        <p:spPr>
          <a:xfrm>
            <a:off x="4054619" y="845950"/>
            <a:ext cx="3915568" cy="31244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F4DF67-CC94-8E6D-183A-A45DDE4E9E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4018" y="845950"/>
            <a:ext cx="4084674" cy="312447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888D8E-11C6-7952-F16F-2D7D5F1A7E95}"/>
              </a:ext>
            </a:extLst>
          </p:cNvPr>
          <p:cNvSpPr txBox="1"/>
          <p:nvPr/>
        </p:nvSpPr>
        <p:spPr>
          <a:xfrm>
            <a:off x="3948151" y="4057233"/>
            <a:ext cx="824384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Simulate</a:t>
            </a:r>
            <a:r>
              <a:rPr lang="en-IN" sz="1600" dirty="0"/>
              <a:t> → physics-grounded synthetic plant data (grade changes + disturbances) </a:t>
            </a:r>
            <a:br>
              <a:rPr lang="en-IN" sz="1600" dirty="0"/>
            </a:br>
            <a:r>
              <a:rPr lang="en-IN" sz="1600" b="1" dirty="0"/>
              <a:t>Engineer features</a:t>
            </a:r>
            <a:r>
              <a:rPr lang="en-IN" sz="1600" dirty="0"/>
              <a:t> → lags, rolling stats, rate-of-change (leakage-checked, event-stratified train/</a:t>
            </a:r>
            <a:r>
              <a:rPr lang="en-IN" sz="1600" dirty="0" err="1"/>
              <a:t>val</a:t>
            </a:r>
            <a:r>
              <a:rPr lang="en-IN" sz="1600" dirty="0"/>
              <a:t> split) </a:t>
            </a:r>
            <a:br>
              <a:rPr lang="en-IN" sz="1600" dirty="0"/>
            </a:br>
            <a:r>
              <a:rPr lang="en-IN" sz="1600" b="1" dirty="0"/>
              <a:t>Discover correlations</a:t>
            </a:r>
            <a:r>
              <a:rPr lang="en-IN" sz="1600" dirty="0"/>
              <a:t> → Granger causality across all tags, validated against known ground truth </a:t>
            </a:r>
            <a:r>
              <a:rPr lang="en-IN" sz="1600" b="1" dirty="0"/>
              <a:t>Predict risk</a:t>
            </a:r>
            <a:r>
              <a:rPr lang="en-IN" sz="1600" dirty="0"/>
              <a:t> → </a:t>
            </a:r>
            <a:r>
              <a:rPr lang="en-IN" sz="1600" dirty="0" err="1"/>
              <a:t>LightGBM</a:t>
            </a:r>
            <a:r>
              <a:rPr lang="en-IN" sz="1600" dirty="0"/>
              <a:t> classifier, ablation-tested to confirm it learns real dynamics, not shortcuts </a:t>
            </a:r>
            <a:br>
              <a:rPr lang="en-IN" sz="1600" dirty="0"/>
            </a:br>
            <a:r>
              <a:rPr lang="en-IN" sz="1600" b="1" dirty="0"/>
              <a:t>Explain</a:t>
            </a:r>
            <a:r>
              <a:rPr lang="en-IN" sz="1600" dirty="0"/>
              <a:t> → SHAP identifies leading indicators driving each prediction</a:t>
            </a:r>
            <a:br>
              <a:rPr lang="en-IN" sz="1600" dirty="0"/>
            </a:br>
            <a:r>
              <a:rPr lang="en-IN" sz="1600" b="1" dirty="0"/>
              <a:t>Recommend</a:t>
            </a:r>
            <a:r>
              <a:rPr lang="en-IN" sz="1600" dirty="0"/>
              <a:t> → k-NN + optimizer suggest rate-safe setpoint adjustments, tagged by source </a:t>
            </a:r>
            <a:r>
              <a:rPr lang="en-IN" sz="1600" b="1" dirty="0"/>
              <a:t>Narrate</a:t>
            </a:r>
            <a:r>
              <a:rPr lang="en-IN" sz="1600" dirty="0"/>
              <a:t> → LLM converts SHAP + recommendation into plain-English rationale </a:t>
            </a:r>
          </a:p>
          <a:p>
            <a:r>
              <a:rPr lang="en-IN" sz="1600" b="1" dirty="0"/>
              <a:t>Visualize &amp; log</a:t>
            </a:r>
            <a:r>
              <a:rPr lang="en-IN" sz="1600" dirty="0"/>
              <a:t> → dashboard displays everything; operator accept/reject feeds back into the system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5639" y="947891"/>
            <a:ext cx="6390967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Reference and Research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Paper machine grade-change control patents — transfer function structure &amp; timing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Industry finding: machine speed (not steam pressure) controls moisture during grade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TAPPI paper tolerance standards — basis for ±2.5% quality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Granger (1969) — causality testing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Lundberg &amp; Lee (2017) — SHAP explainability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Ke et al. (2017) — </a:t>
            </a:r>
            <a:r>
              <a:rPr lang="en-IN" dirty="0" err="1"/>
              <a:t>LightGBM</a:t>
            </a:r>
            <a:r>
              <a:rPr lang="en-IN" dirty="0"/>
              <a:t> (Microsoft Research)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Honeywell QCS / MD-MPC — existing system this solution extends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Official docs: </a:t>
            </a:r>
            <a:r>
              <a:rPr lang="en-IN" dirty="0" err="1"/>
              <a:t>LightGBM</a:t>
            </a:r>
            <a:r>
              <a:rPr lang="en-IN" dirty="0"/>
              <a:t>, SHAP, </a:t>
            </a:r>
            <a:r>
              <a:rPr lang="en-IN" dirty="0" err="1"/>
              <a:t>Streamlit</a:t>
            </a:r>
            <a:r>
              <a:rPr lang="en-IN" dirty="0"/>
              <a:t>, </a:t>
            </a:r>
            <a:r>
              <a:rPr lang="en-IN" dirty="0" err="1"/>
              <a:t>Plotly</a:t>
            </a:r>
            <a:r>
              <a:rPr lang="en-IN" dirty="0"/>
              <a:t>, OpenAI, </a:t>
            </a:r>
            <a:r>
              <a:rPr lang="en-IN" dirty="0" err="1"/>
              <a:t>Groq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D75974-0253-152C-A527-9F6465FB1DA9}"/>
              </a:ext>
            </a:extLst>
          </p:cNvPr>
          <p:cNvSpPr txBox="1"/>
          <p:nvPr/>
        </p:nvSpPr>
        <p:spPr>
          <a:xfrm>
            <a:off x="147485" y="4909817"/>
            <a:ext cx="5486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GitHub Repository: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https://github.com/Mohit20198/Grade-Change-Intelligence-in-Paper-Making-Process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D8AD6D-FCA9-FCF4-1818-FC27917D4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125" y="1166914"/>
            <a:ext cx="3895352" cy="32552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114889-ED0A-CB98-C69E-0051455B10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00" t="15348" b="16414"/>
          <a:stretch>
            <a:fillRect/>
          </a:stretch>
        </p:blipFill>
        <p:spPr>
          <a:xfrm>
            <a:off x="6043561" y="4856345"/>
            <a:ext cx="5924786" cy="195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8028</TotalTime>
  <Words>713</Words>
  <Application>Microsoft Office PowerPoint</Application>
  <PresentationFormat>Widescreen</PresentationFormat>
  <Paragraphs>87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Grade Change Intelligence in Paper Making Process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Neha Upadhyay</cp:lastModifiedBy>
  <cp:revision>154</cp:revision>
  <dcterms:created xsi:type="dcterms:W3CDTF">2013-12-12T18:46:50Z</dcterms:created>
  <dcterms:modified xsi:type="dcterms:W3CDTF">2026-07-26T17:35:08Z</dcterms:modified>
  <cp:category/>
</cp:coreProperties>
</file>